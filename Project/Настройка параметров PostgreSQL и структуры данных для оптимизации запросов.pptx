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33" r:id="rId1"/>
    <p:sldMasterId id="2147483734" r:id="rId2"/>
    <p:sldMasterId id="2147483735" r:id="rId3"/>
  </p:sldMasterIdLst>
  <p:notesMasterIdLst>
    <p:notesMasterId r:id="rId17"/>
  </p:notesMasterIdLst>
  <p:sldIdLst>
    <p:sldId id="256" r:id="rId4"/>
    <p:sldId id="257" r:id="rId5"/>
    <p:sldId id="258" r:id="rId6"/>
    <p:sldId id="259" r:id="rId7"/>
    <p:sldId id="260" r:id="rId8"/>
    <p:sldId id="261" r:id="rId9"/>
    <p:sldId id="306" r:id="rId10"/>
    <p:sldId id="262" r:id="rId11"/>
    <p:sldId id="307" r:id="rId12"/>
    <p:sldId id="308" r:id="rId13"/>
    <p:sldId id="263" r:id="rId14"/>
    <p:sldId id="264" r:id="rId15"/>
    <p:sldId id="265" r:id="rId16"/>
  </p:sldIdLst>
  <p:sldSz cx="9144000" cy="5143500" type="screen16x9"/>
  <p:notesSz cx="6858000" cy="9144000"/>
  <p:embeddedFontLst>
    <p:embeddedFont>
      <p:font typeface="Roboto" panose="020B0604020202020204" charset="0"/>
      <p:regular r:id="rId18"/>
      <p:bold r:id="rId19"/>
      <p:italic r:id="rId20"/>
      <p:boldItalic r:id="rId21"/>
    </p:embeddedFont>
    <p:embeddedFont>
      <p:font typeface="Roboto Medium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  <p15:guide id="6" pos="102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CEE8FE-9399-4161-9C0E-73CC5A083D9B}">
  <a:tblStyle styleId="{51CEE8FE-9399-4161-9C0E-73CC5A083D9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pos="5533"/>
        <p:guide pos="397"/>
        <p:guide orient="horz" pos="3240"/>
        <p:guide orient="horz"/>
        <p:guide orient="horz" pos="510"/>
        <p:guide pos="10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4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7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font" Target="fonts/font2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0f7d84ce1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0f7d84ce1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0f7d84ce1d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0f7d84ce1d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" name="Google Shape;419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6298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44332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8" name="Google Shape;458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9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лок текст + картинка" type="title">
  <p:cSld name="TITL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495300" y="1493850"/>
            <a:ext cx="4424100" cy="215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pic>
        <p:nvPicPr>
          <p:cNvPr id="71" name="Google Shape;7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283625" y="843000"/>
            <a:ext cx="3457500" cy="34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7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Цитата, фон градиент" type="secHead">
  <p:cSld name="SECTION_HEAD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04350" y="1999200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00"/>
              <a:buNone/>
              <a:defRPr sz="45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этапы процесса">
  <p:cSld name="CUSTOM_5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pic>
        <p:nvPicPr>
          <p:cNvPr id="77" name="Google Shape;7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22851" y="1821363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8" name="Google Shape;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68289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79" name="Google Shape;7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7615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pic>
        <p:nvPicPr>
          <p:cNvPr id="80" name="Google Shape;8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7001" y="1821362"/>
            <a:ext cx="1643210" cy="755249"/>
          </a:xfrm>
          <a:prstGeom prst="rect">
            <a:avLst/>
          </a:prstGeom>
          <a:noFill/>
          <a:ln>
            <a:noFill/>
          </a:ln>
          <a:effectLst>
            <a:outerShdw blurRad="142875" dist="28575" dir="5400000" algn="bl" rotWithShape="0">
              <a:srgbClr val="000000">
                <a:alpha val="41000"/>
              </a:srgbClr>
            </a:outerShdw>
          </a:effectLst>
        </p:spPr>
      </p:pic>
      <p:sp>
        <p:nvSpPr>
          <p:cNvPr id="81" name="Google Shape;81;p19"/>
          <p:cNvSpPr txBox="1"/>
          <p:nvPr/>
        </p:nvSpPr>
        <p:spPr>
          <a:xfrm>
            <a:off x="121300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1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" name="Google Shape;82;p19"/>
          <p:cNvSpPr txBox="1"/>
          <p:nvPr/>
        </p:nvSpPr>
        <p:spPr>
          <a:xfrm>
            <a:off x="3058443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2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19"/>
          <p:cNvSpPr txBox="1"/>
          <p:nvPr/>
        </p:nvSpPr>
        <p:spPr>
          <a:xfrm>
            <a:off x="4817770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3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19"/>
          <p:cNvSpPr txBox="1"/>
          <p:nvPr/>
        </p:nvSpPr>
        <p:spPr>
          <a:xfrm>
            <a:off x="6637156" y="1944853"/>
            <a:ext cx="1062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b="1">
                <a:solidFill>
                  <a:srgbClr val="EEEEEE"/>
                </a:solidFill>
                <a:latin typeface="Roboto"/>
                <a:ea typeface="Roboto"/>
                <a:cs typeface="Roboto"/>
                <a:sym typeface="Roboto"/>
              </a:rPr>
              <a:t>Этап 4</a:t>
            </a:r>
            <a:endParaRPr sz="1500" b="1">
              <a:solidFill>
                <a:srgbClr val="EEEEEE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" name="Google Shape;85;p19"/>
          <p:cNvSpPr txBox="1"/>
          <p:nvPr/>
        </p:nvSpPr>
        <p:spPr>
          <a:xfrm>
            <a:off x="98290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9"/>
          <p:cNvSpPr txBox="1"/>
          <p:nvPr/>
        </p:nvSpPr>
        <p:spPr>
          <a:xfrm>
            <a:off x="2828343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9"/>
          <p:cNvSpPr txBox="1"/>
          <p:nvPr/>
        </p:nvSpPr>
        <p:spPr>
          <a:xfrm>
            <a:off x="4587670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9"/>
          <p:cNvSpPr txBox="1"/>
          <p:nvPr/>
        </p:nvSpPr>
        <p:spPr>
          <a:xfrm>
            <a:off x="6407056" y="3241600"/>
            <a:ext cx="152310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</a:t>
            </a:r>
            <a:r>
              <a:rPr lang="ru" sz="9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их типов данных, соглашений </a:t>
            </a:r>
            <a:endParaRPr sz="900" i="0" u="none" strike="noStrike" cap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900"/>
              <a:buFont typeface="Roboto"/>
              <a:buNone/>
            </a:pPr>
            <a:r>
              <a:rPr lang="ru" sz="9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об именовании и правил проверки целостностей </a:t>
            </a:r>
            <a:endParaRPr sz="90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исок в 2 колонки ">
  <p:cSld name="CUSTOM_8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1" name="Google Shape;91;p20"/>
          <p:cNvGraphicFramePr/>
          <p:nvPr/>
        </p:nvGraphicFramePr>
        <p:xfrm>
          <a:off x="655650" y="174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{51CEE8FE-9399-4161-9C0E-73CC5A083D9B}</a:tableStyleId>
              </a:tblPr>
              <a:tblGrid>
                <a:gridCol w="38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91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 Описание эксперимента</a:t>
                      </a:r>
                      <a:r>
                        <a:rPr lang="ru" sz="1700" b="1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ru" sz="17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Технические детали</a:t>
                      </a:r>
                      <a:endParaRPr sz="17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6175">
                <a:tc>
                  <a:txBody>
                    <a:bodyPr/>
                    <a:lstStyle/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Гипотеза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Целевая аудитория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 Ожидаемый результат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Roboto"/>
                        <a:buChar char="●"/>
                      </a:pPr>
                      <a:r>
                        <a:rPr lang="ru" sz="17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Реализация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Настройки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238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ru" sz="15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Метрики</a:t>
                      </a:r>
                      <a:endParaRPr sz="15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сылка на источник" type="twoColTx">
  <p:cSld name="TITLE_AND_TWO_COLUMNS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1"/>
          <p:cNvSpPr txBox="1"/>
          <p:nvPr/>
        </p:nvSpPr>
        <p:spPr>
          <a:xfrm>
            <a:off x="556300" y="4554000"/>
            <a:ext cx="4239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добавьте ссылку на источник</a:t>
            </a:r>
            <a:endParaRPr sz="1100">
              <a:solidFill>
                <a:srgbClr val="013D8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подтемой">
  <p:cSld name="MAIN_POINT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аблица ">
  <p:cSld name="CUSTOM_1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aphicFrame>
        <p:nvGraphicFramePr>
          <p:cNvPr id="98" name="Google Shape;98;p23"/>
          <p:cNvGraphicFramePr/>
          <p:nvPr/>
        </p:nvGraphicFramePr>
        <p:xfrm>
          <a:off x="608700" y="1593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{51CEE8FE-9399-4161-9C0E-73CC5A083D9B}</a:tableStyleId>
              </a:tblPr>
              <a:tblGrid>
                <a:gridCol w="39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7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6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solidFill>
                          <a:srgbClr val="4811C5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Название столбца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ru" sz="1300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Текст нежирным шрифтом</a:t>
                      </a:r>
                      <a:endParaRPr sz="1300">
                        <a:solidFill>
                          <a:srgbClr val="000000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3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плашки + иллюстрация">
  <p:cSld name="SECTION_TITLE_AND_DESCRI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01" name="Google Shape;101;p24"/>
          <p:cNvSpPr/>
          <p:nvPr/>
        </p:nvSpPr>
        <p:spPr>
          <a:xfrm>
            <a:off x="791625" y="1039150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" name="Google Shape;102;p24"/>
          <p:cNvSpPr/>
          <p:nvPr/>
        </p:nvSpPr>
        <p:spPr>
          <a:xfrm>
            <a:off x="791625" y="1904882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24"/>
          <p:cNvSpPr/>
          <p:nvPr/>
        </p:nvSpPr>
        <p:spPr>
          <a:xfrm>
            <a:off x="791625" y="2770607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24"/>
          <p:cNvSpPr/>
          <p:nvPr/>
        </p:nvSpPr>
        <p:spPr>
          <a:xfrm>
            <a:off x="791625" y="3636339"/>
            <a:ext cx="3640800" cy="705900"/>
          </a:xfrm>
          <a:prstGeom prst="roundRect">
            <a:avLst>
              <a:gd name="adj" fmla="val 16667"/>
            </a:avLst>
          </a:prstGeom>
          <a:solidFill>
            <a:srgbClr val="EEEEEE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5" name="Google Shape;10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533900" y="1409075"/>
            <a:ext cx="2468700" cy="2468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блока">
  <p:cSld name="CUSTOM_7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932713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436420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5940127" y="1748200"/>
            <a:ext cx="2127900" cy="2929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1073575" y="2074863"/>
            <a:ext cx="18462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 sz="1100"/>
          </a:p>
        </p:txBody>
      </p:sp>
      <p:sp>
        <p:nvSpPr>
          <p:cNvPr id="114" name="Google Shape;114;p26"/>
          <p:cNvSpPr txBox="1"/>
          <p:nvPr/>
        </p:nvSpPr>
        <p:spPr>
          <a:xfrm>
            <a:off x="3530920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  <p:sp>
        <p:nvSpPr>
          <p:cNvPr id="115" name="Google Shape;115;p26"/>
          <p:cNvSpPr txBox="1"/>
          <p:nvPr/>
        </p:nvSpPr>
        <p:spPr>
          <a:xfrm>
            <a:off x="6080975" y="2074863"/>
            <a:ext cx="1938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100">
                <a:solidFill>
                  <a:srgbClr val="333333"/>
                </a:solidFill>
                <a:latin typeface="Roboto"/>
                <a:ea typeface="Roboto"/>
                <a:cs typeface="Roboto"/>
                <a:sym typeface="Roboto"/>
              </a:rPr>
              <a:t>Поле для текста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пределение" type="title">
  <p:cSld name="TITL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7710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2" name="Google Shape;122;p28"/>
          <p:cNvSpPr txBox="1"/>
          <p:nvPr/>
        </p:nvSpPr>
        <p:spPr>
          <a:xfrm>
            <a:off x="549614" y="1802270"/>
            <a:ext cx="76362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400" b="1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Определение</a:t>
            </a:r>
            <a:r>
              <a:rPr lang="ru" sz="2400" i="0" u="none" strike="noStrike" cap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– </a:t>
            </a:r>
            <a:r>
              <a:rPr lang="ru" sz="2400">
                <a:latin typeface="Roboto"/>
                <a:ea typeface="Roboto"/>
                <a:cs typeface="Roboto"/>
                <a:sym typeface="Roboto"/>
              </a:rPr>
              <a:t>описание данных в виде набора сущностей, отношений между ними, атрибутов сущностей, их типов данных, соглашений об именовании и правил проверки целостностей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кст + картинка" type="tx">
  <p:cSld name="TITLE_AND_BODY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8" name="Google Shape;128;p30"/>
          <p:cNvSpPr txBox="1"/>
          <p:nvPr/>
        </p:nvSpPr>
        <p:spPr>
          <a:xfrm>
            <a:off x="630550" y="1572900"/>
            <a:ext cx="39063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Главная мысль 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3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слайда, тезис, определение</a:t>
            </a:r>
            <a:endParaRPr sz="3300"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9" name="Google Shape;129;p30"/>
          <p:cNvPicPr preferRelativeResize="0"/>
          <p:nvPr/>
        </p:nvPicPr>
        <p:blipFill rotWithShape="1">
          <a:blip r:embed="rId2">
            <a:alphaModFix/>
          </a:blip>
          <a:srcRect t="10742" b="10734"/>
          <a:stretch/>
        </p:blipFill>
        <p:spPr>
          <a:xfrm>
            <a:off x="5581050" y="867901"/>
            <a:ext cx="2868000" cy="31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3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4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8" name="Google Shape;138;p34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39" name="Google Shape;139;p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6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7"/>
          <p:cNvSpPr/>
          <p:nvPr/>
        </p:nvSpPr>
        <p:spPr>
          <a:xfrm>
            <a:off x="606200" y="1441163"/>
            <a:ext cx="79386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37"/>
          <p:cNvSpPr txBox="1">
            <a:spLocks noGrp="1"/>
          </p:cNvSpPr>
          <p:nvPr>
            <p:ph type="subTitle" idx="1"/>
          </p:nvPr>
        </p:nvSpPr>
        <p:spPr>
          <a:xfrm>
            <a:off x="743675" y="1496071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8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9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9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40"/>
          <p:cNvSpPr/>
          <p:nvPr/>
        </p:nvSpPr>
        <p:spPr>
          <a:xfrm>
            <a:off x="362300" y="1364963"/>
            <a:ext cx="4748700" cy="35649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40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158" name="Google Shape;158;p40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1"/>
          <p:cNvSpPr txBox="1">
            <a:spLocks noGrp="1"/>
          </p:cNvSpPr>
          <p:nvPr>
            <p:ph type="title"/>
          </p:nvPr>
        </p:nvSpPr>
        <p:spPr>
          <a:xfrm>
            <a:off x="500550" y="1783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1" name="Google Shape;161;p41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162" name="Google Shape;16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2"/>
          <p:cNvSpPr txBox="1">
            <a:spLocks noGrp="1"/>
          </p:cNvSpPr>
          <p:nvPr>
            <p:ph type="title"/>
          </p:nvPr>
        </p:nvSpPr>
        <p:spPr>
          <a:xfrm>
            <a:off x="500550" y="2545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3"/>
          <p:cNvSpPr txBox="1">
            <a:spLocks noGrp="1"/>
          </p:cNvSpPr>
          <p:nvPr>
            <p:ph type="sldNum" idx="12"/>
          </p:nvPr>
        </p:nvSpPr>
        <p:spPr>
          <a:xfrm>
            <a:off x="6583680" y="4783455"/>
            <a:ext cx="21030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-синий">
  <p:cSld name="MAIN_POINT_2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●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○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Roboto"/>
              <a:buChar char="■"/>
              <a:defRPr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du.postgrespro.ru/demo-big-20161013.zip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Relationship Id="rId4" Type="http://schemas.openxmlformats.org/officeDocument/2006/relationships/hyperlink" Target="https://postgrespro.ru/education/demodb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otus.ru/redirect/?to=https%3A%2F%2Fgithub.com%2Fa-ramil%2Fstudy-postgresql%2Ftree%2Fmain%2FProject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2"/>
          <p:cNvPicPr preferRelativeResize="0"/>
          <p:nvPr/>
        </p:nvPicPr>
        <p:blipFill rotWithShape="1">
          <a:blip r:embed="rId3">
            <a:alphaModFix/>
          </a:blip>
          <a:srcRect t="5495" b="38716"/>
          <a:stretch/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2"/>
          <p:cNvSpPr/>
          <p:nvPr/>
        </p:nvSpPr>
        <p:spPr>
          <a:xfrm>
            <a:off x="408125" y="411187"/>
            <a:ext cx="6184060" cy="415468"/>
          </a:xfrm>
          <a:prstGeom prst="roundRect">
            <a:avLst>
              <a:gd name="adj" fmla="val 16667"/>
            </a:avLst>
          </a:prstGeom>
          <a:solidFill>
            <a:srgbClr val="740FB4"/>
          </a:solidFill>
          <a:ln>
            <a:noFill/>
          </a:ln>
          <a:effectLst>
            <a:outerShdw blurRad="200025" dist="28575" dir="5400000" algn="bl" rotWithShape="0">
              <a:srgbClr val="000000">
                <a:alpha val="28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92"/>
          <p:cNvSpPr txBox="1"/>
          <p:nvPr/>
        </p:nvSpPr>
        <p:spPr>
          <a:xfrm>
            <a:off x="433125" y="1890725"/>
            <a:ext cx="7584300" cy="2708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sz="41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Настройка параметров PostgreSQL и </a:t>
            </a:r>
            <a:endParaRPr lang="en-US" sz="41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/>
            <a:r>
              <a:rPr lang="ru-RU" sz="41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структуры данных для оптимизации запросов</a:t>
            </a:r>
            <a:endParaRPr sz="41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5" name="Google Shape;375;p92"/>
          <p:cNvSpPr txBox="1"/>
          <p:nvPr/>
        </p:nvSpPr>
        <p:spPr>
          <a:xfrm>
            <a:off x="593414" y="411187"/>
            <a:ext cx="5998771" cy="415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ru-RU" sz="1500" dirty="0">
                <a:solidFill>
                  <a:srgbClr val="F4F4F6"/>
                </a:solidFill>
                <a:latin typeface="Roboto Medium"/>
                <a:ea typeface="Roboto Medium"/>
                <a:cs typeface="Roboto Medium"/>
                <a:sym typeface="Roboto Medium"/>
              </a:rPr>
              <a:t>PostgreSQL для администраторов баз данных</a:t>
            </a:r>
            <a:r>
              <a:rPr lang="en-US" sz="1500" dirty="0">
                <a:solidFill>
                  <a:srgbClr val="F4F4F6"/>
                </a:solidFill>
                <a:latin typeface="Roboto Medium"/>
                <a:ea typeface="Roboto Medium"/>
                <a:cs typeface="Roboto Medium"/>
                <a:sym typeface="Roboto Medium"/>
              </a:rPr>
              <a:t> </a:t>
            </a:r>
            <a:r>
              <a:rPr lang="ru-RU" sz="1500" dirty="0">
                <a:solidFill>
                  <a:srgbClr val="F4F4F6"/>
                </a:solidFill>
                <a:latin typeface="Roboto Medium"/>
                <a:ea typeface="Roboto Medium"/>
                <a:cs typeface="Roboto Medium"/>
                <a:sym typeface="Roboto Medium"/>
              </a:rPr>
              <a:t>и разработчиков</a:t>
            </a:r>
            <a:endParaRPr sz="1500" dirty="0">
              <a:solidFill>
                <a:srgbClr val="F4F4F6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376" name="Google Shape;376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08125" y="2113144"/>
            <a:ext cx="1787901" cy="2849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93"/>
          <p:cNvSpPr txBox="1">
            <a:spLocks noGrp="1"/>
          </p:cNvSpPr>
          <p:nvPr>
            <p:ph type="title"/>
          </p:nvPr>
        </p:nvSpPr>
        <p:spPr>
          <a:xfrm>
            <a:off x="744125" y="1415974"/>
            <a:ext cx="7935300" cy="141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4000">
                <a:solidFill>
                  <a:schemeClr val="dk1"/>
                </a:solidFill>
              </a:rPr>
              <a:t>Меня хорошо видно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>
                <a:solidFill>
                  <a:schemeClr val="dk1"/>
                </a:solidFill>
              </a:rPr>
              <a:t>&amp; слышно?</a:t>
            </a:r>
            <a:endParaRPr sz="4000">
              <a:solidFill>
                <a:schemeClr val="dk1"/>
              </a:solidFill>
            </a:endParaRPr>
          </a:p>
        </p:txBody>
      </p:sp>
      <p:pic>
        <p:nvPicPr>
          <p:cNvPr id="383" name="Google Shape;383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062" y="3841075"/>
            <a:ext cx="545712" cy="545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5575" y="3890890"/>
            <a:ext cx="537262" cy="53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94"/>
          <p:cNvSpPr txBox="1">
            <a:spLocks noGrp="1"/>
          </p:cNvSpPr>
          <p:nvPr>
            <p:ph type="title"/>
          </p:nvPr>
        </p:nvSpPr>
        <p:spPr>
          <a:xfrm>
            <a:off x="479284" y="55547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/>
              <a:t>Защита проекта</a:t>
            </a:r>
            <a:endParaRPr sz="3000" dirty="0"/>
          </a:p>
          <a:p>
            <a:pPr lvl="0">
              <a:buSzPts val="1100"/>
            </a:pPr>
            <a:r>
              <a:rPr lang="ru" sz="2500" dirty="0"/>
              <a:t>Тема: </a:t>
            </a:r>
            <a:r>
              <a:rPr lang="ru-RU" sz="2500" dirty="0"/>
              <a:t>Настройка параметров PostgreSQL </a:t>
            </a:r>
            <a:br>
              <a:rPr lang="ru-RU" sz="2500" dirty="0"/>
            </a:br>
            <a:r>
              <a:rPr lang="ru-RU" sz="2500" dirty="0"/>
              <a:t>и структуры данных для оптимизации запросов</a:t>
            </a:r>
            <a:endParaRPr sz="25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90" name="Google Shape;390;p94"/>
          <p:cNvPicPr preferRelativeResize="0"/>
          <p:nvPr/>
        </p:nvPicPr>
        <p:blipFill>
          <a:blip r:embed="rId3"/>
          <a:srcRect/>
          <a:stretch/>
        </p:blipFill>
        <p:spPr>
          <a:xfrm>
            <a:off x="645600" y="2155326"/>
            <a:ext cx="2318700" cy="23187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91" name="Google Shape;391;p94"/>
          <p:cNvSpPr txBox="1"/>
          <p:nvPr/>
        </p:nvSpPr>
        <p:spPr>
          <a:xfrm>
            <a:off x="3662584" y="2746327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300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Рамиль Ахметов</a:t>
            </a:r>
            <a:endParaRPr sz="2300" b="1" dirty="0">
              <a:solidFill>
                <a:srgbClr val="9857F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94"/>
          <p:cNvSpPr txBox="1"/>
          <p:nvPr/>
        </p:nvSpPr>
        <p:spPr>
          <a:xfrm>
            <a:off x="3662584" y="3132657"/>
            <a:ext cx="5337300" cy="6647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Главный эксперт, разработчик (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.Net, C#, MSSQL, Angular, React…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)</a:t>
            </a: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dirty="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ООО 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“</a:t>
            </a:r>
            <a:r>
              <a:rPr lang="ru-RU" sz="1300" dirty="0">
                <a:latin typeface="Roboto Medium"/>
                <a:ea typeface="Roboto Medium"/>
                <a:cs typeface="Roboto Medium"/>
                <a:sym typeface="Roboto Medium"/>
              </a:rPr>
              <a:t>Цифровые технологии и платформы</a:t>
            </a:r>
            <a:r>
              <a:rPr lang="en-US" sz="1300" dirty="0">
                <a:latin typeface="Roboto Medium"/>
                <a:ea typeface="Roboto Medium"/>
                <a:cs typeface="Roboto Medium"/>
                <a:sym typeface="Roboto Medium"/>
              </a:rPr>
              <a:t>”</a:t>
            </a:r>
            <a:endParaRPr sz="1300" dirty="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95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398" name="Google Shape;398;p95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95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95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95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02" name="Google Shape;402;p95"/>
          <p:cNvCxnSpPr>
            <a:stCxn id="398" idx="1"/>
            <a:endCxn id="399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95"/>
          <p:cNvCxnSpPr>
            <a:stCxn id="399" idx="1"/>
            <a:endCxn id="400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4" name="Google Shape;404;p95"/>
          <p:cNvCxnSpPr>
            <a:stCxn id="400" idx="1"/>
            <a:endCxn id="401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05" name="Google Shape;405;p95"/>
          <p:cNvCxnSpPr>
            <a:stCxn id="401" idx="1"/>
            <a:endCxn id="406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9857F3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406" name="Google Shape;406;p95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96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412" name="Google Shape;412;p96"/>
          <p:cNvGraphicFramePr/>
          <p:nvPr>
            <p:extLst>
              <p:ext uri="{D42A27DB-BD31-4B8C-83A1-F6EECF244321}">
                <p14:modId xmlns:p14="http://schemas.microsoft.com/office/powerpoint/2010/main" val="459233325"/>
              </p:ext>
            </p:extLst>
          </p:nvPr>
        </p:nvGraphicFramePr>
        <p:xfrm>
          <a:off x="952500" y="2382125"/>
          <a:ext cx="7239000" cy="2560140"/>
        </p:xfrm>
        <a:graphic>
          <a:graphicData uri="http://schemas.openxmlformats.org/drawingml/2006/table">
            <a:tbl>
              <a:tblPr>
                <a:noFill/>
                <a:tableStyleId>{51CEE8FE-9399-4161-9C0E-73CC5A083D9B}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Создать виртуальную машину на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Ubuntu 20.04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Установить СУБД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Разработать запросы и получить план запросов до оптимизации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Оптимизировать структуры данных</a:t>
                      </a: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5.</a:t>
                      </a: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Оценить результаты после оптимизации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 algn="ctr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9555318"/>
                  </a:ext>
                </a:extLst>
              </a:tr>
            </a:tbl>
          </a:graphicData>
        </a:graphic>
      </p:graphicFrame>
      <p:sp>
        <p:nvSpPr>
          <p:cNvPr id="413" name="Google Shape;413;p96"/>
          <p:cNvSpPr/>
          <p:nvPr/>
        </p:nvSpPr>
        <p:spPr>
          <a:xfrm>
            <a:off x="1628250" y="1386300"/>
            <a:ext cx="5887500" cy="6621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Цель проекта: </a:t>
            </a:r>
            <a:r>
              <a:rPr lang="ru-RU" sz="1500" dirty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rPr>
              <a:t>Оптимизировать структуру произвольного набора данных для оптимальной работы запросов</a:t>
            </a:r>
            <a:endParaRPr sz="1500" dirty="0">
              <a:latin typeface="Roboto Medium"/>
              <a:ea typeface="Roboto Medium"/>
              <a:cs typeface="Roboto Medium"/>
              <a:sym typeface="Robo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425" name="Google Shape;425;p97"/>
          <p:cNvGraphicFramePr/>
          <p:nvPr>
            <p:extLst>
              <p:ext uri="{D42A27DB-BD31-4B8C-83A1-F6EECF244321}">
                <p14:modId xmlns:p14="http://schemas.microsoft.com/office/powerpoint/2010/main" val="205865680"/>
              </p:ext>
            </p:extLst>
          </p:nvPr>
        </p:nvGraphicFramePr>
        <p:xfrm>
          <a:off x="952500" y="1897775"/>
          <a:ext cx="7239000" cy="2219810"/>
        </p:xfrm>
        <a:graphic>
          <a:graphicData uri="http://schemas.openxmlformats.org/drawingml/2006/table">
            <a:tbl>
              <a:tblPr>
                <a:noFill/>
                <a:tableStyleId>{51CEE8FE-9399-4161-9C0E-73CC5A083D9B}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Вируальная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машина в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“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Яндекс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Облако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”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на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Ubuntu 20.04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PostgreSQL 17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и настройка по рекомендациям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pgconfig.org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</a:t>
                      </a:r>
                      <a:r>
                        <a:rPr lang="ru" sz="1600" b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sz="1600" b="1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Nano,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Dbeaver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, Notepad++…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 dirty="0">
                          <a:solidFill>
                            <a:srgbClr val="9857F3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  <a:hlinkClick r:id="rId3"/>
                        </a:rPr>
                        <a:t>demo-big-20161013.zip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(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https://postgrespro.ru/education/demodb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D2B2DC-56E1-42AB-8FC9-ED6164DF0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Первоначальная схема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ADE478B-109B-4F93-BDA4-EBB65D200A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3840" y="945183"/>
            <a:ext cx="5710772" cy="4037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106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9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dirty="0"/>
              <a:t>Что получилось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DD90B20-94DF-4BB8-A13D-9DD16A337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986652"/>
            <a:ext cx="2842506" cy="3170195"/>
          </a:xfrm>
          <a:prstGeom prst="rect">
            <a:avLst/>
          </a:prstGeom>
        </p:spPr>
      </p:pic>
      <p:sp>
        <p:nvSpPr>
          <p:cNvPr id="9" name="Google Shape;591;p108">
            <a:extLst>
              <a:ext uri="{FF2B5EF4-FFF2-40B4-BE49-F238E27FC236}">
                <a16:creationId xmlns:a16="http://schemas.microsoft.com/office/drawing/2014/main" id="{70A42EE6-8E92-4C94-8FBB-07F8FDC09212}"/>
              </a:ext>
            </a:extLst>
          </p:cNvPr>
          <p:cNvSpPr txBox="1">
            <a:spLocks/>
          </p:cNvSpPr>
          <p:nvPr/>
        </p:nvSpPr>
        <p:spPr>
          <a:xfrm>
            <a:off x="4089991" y="945068"/>
            <a:ext cx="4366772" cy="3364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ru-RU" dirty="0"/>
              <a:t>Для оптимизации потребовалось создать секции. </a:t>
            </a:r>
          </a:p>
          <a:p>
            <a:pPr>
              <a:buSzPts val="1100"/>
              <a:buFont typeface="Arial"/>
              <a:buNone/>
            </a:pPr>
            <a:r>
              <a:rPr lang="ru-RU" sz="1800" dirty="0"/>
              <a:t>Это позволило хранить данные в определенном диапазоне.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BA25639-0F46-41A7-B9C2-F94637291C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631" y="212651"/>
            <a:ext cx="6257512" cy="4501116"/>
          </a:xfrm>
          <a:prstGeom prst="rect">
            <a:avLst/>
          </a:prstGeom>
        </p:spPr>
      </p:pic>
      <p:pic>
        <p:nvPicPr>
          <p:cNvPr id="7" name="Google Shape;512;p106">
            <a:extLst>
              <a:ext uri="{FF2B5EF4-FFF2-40B4-BE49-F238E27FC236}">
                <a16:creationId xmlns:a16="http://schemas.microsoft.com/office/drawing/2014/main" id="{C57F5859-CD6A-42F5-BB47-3D127C61C0B8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1764" y="212651"/>
            <a:ext cx="542605" cy="5426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56704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3C362B0-E5EE-47B9-ABA9-EBCBE58DE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43" y="147111"/>
            <a:ext cx="4241513" cy="109084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A16A92D5-50B3-491E-8E0E-33DD2AC6F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536" y="2037861"/>
            <a:ext cx="4099325" cy="2382733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595A5CC2-0231-4A9A-9EBB-1F858A7886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839" y="2037861"/>
            <a:ext cx="3657501" cy="2203028"/>
          </a:xfrm>
          <a:prstGeom prst="rect">
            <a:avLst/>
          </a:prstGeom>
        </p:spPr>
      </p:pic>
      <p:pic>
        <p:nvPicPr>
          <p:cNvPr id="18" name="Google Shape;527;p106">
            <a:extLst>
              <a:ext uri="{FF2B5EF4-FFF2-40B4-BE49-F238E27FC236}">
                <a16:creationId xmlns:a16="http://schemas.microsoft.com/office/drawing/2014/main" id="{88EBEF59-C262-4B67-B914-038F734F58A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91839" y="274724"/>
            <a:ext cx="499518" cy="49951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591;p108">
            <a:extLst>
              <a:ext uri="{FF2B5EF4-FFF2-40B4-BE49-F238E27FC236}">
                <a16:creationId xmlns:a16="http://schemas.microsoft.com/office/drawing/2014/main" id="{20A44562-C852-499E-8CC0-33F8A43E1B61}"/>
              </a:ext>
            </a:extLst>
          </p:cNvPr>
          <p:cNvSpPr txBox="1">
            <a:spLocks/>
          </p:cNvSpPr>
          <p:nvPr/>
        </p:nvSpPr>
        <p:spPr>
          <a:xfrm>
            <a:off x="4791839" y="355404"/>
            <a:ext cx="4104601" cy="1209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buSzPts val="1100"/>
              <a:buFont typeface="Arial"/>
              <a:buNone/>
            </a:pPr>
            <a:r>
              <a:rPr lang="ru-RU" sz="2500" dirty="0"/>
              <a:t>      Получили прирост в скорости выполнения запросов</a:t>
            </a:r>
          </a:p>
        </p:txBody>
      </p:sp>
    </p:spTree>
    <p:extLst>
      <p:ext uri="{BB962C8B-B14F-4D97-AF65-F5344CB8AC3E}">
        <p14:creationId xmlns:p14="http://schemas.microsoft.com/office/powerpoint/2010/main" val="3228450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9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 dirty="0"/>
              <a:t>Выводы</a:t>
            </a:r>
            <a:endParaRPr sz="3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B1EAD90-6986-4938-8BA2-B352A0B030C1}"/>
              </a:ext>
            </a:extLst>
          </p:cNvPr>
          <p:cNvSpPr/>
          <p:nvPr/>
        </p:nvSpPr>
        <p:spPr>
          <a:xfrm>
            <a:off x="903766" y="1253732"/>
            <a:ext cx="7739683" cy="32872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1.</a:t>
            </a:r>
            <a:r>
              <a:rPr lang="ru-RU" dirty="0">
                <a:latin typeface="Roboto" panose="020B0604020202020204" charset="0"/>
              </a:rPr>
              <a:t> Цель достигнута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lang="ru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dirty="0">
                <a:latin typeface="Roboto" panose="020B0604020202020204" charset="0"/>
              </a:rPr>
              <a:t> Возникшие проблемы - в самом начале не учел что в диапазоне секции правое значение не включено. Исправил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lang="ru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dirty="0">
                <a:latin typeface="Roboto" panose="020B0604020202020204" charset="0"/>
              </a:rPr>
              <a:t> Время выполнения ~3 дня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lang="ru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dirty="0">
                <a:latin typeface="Roboto" panose="020B0604020202020204" charset="0"/>
              </a:rPr>
              <a:t> Личная польза - 8 из 10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lang="ru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dirty="0">
                <a:latin typeface="Roboto" panose="020B0604020202020204" charset="0"/>
              </a:rPr>
              <a:t> Вопросы по проекту - нет</a:t>
            </a:r>
          </a:p>
          <a:p>
            <a:pPr>
              <a:lnSpc>
                <a:spcPct val="150000"/>
              </a:lnSpc>
            </a:pPr>
            <a:r>
              <a:rPr lang="en-US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lang="ru" b="1" dirty="0">
                <a:solidFill>
                  <a:srgbClr val="9857F3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r>
              <a:rPr lang="ru-RU" dirty="0">
                <a:latin typeface="Roboto" panose="020B0604020202020204" charset="0"/>
              </a:rPr>
              <a:t> Дальнейшее развитие - изучение способов оптимизации запросов PostgreSQL</a:t>
            </a:r>
            <a:r>
              <a:rPr lang="en-US" dirty="0">
                <a:latin typeface="Roboto" panose="020B0604020202020204" charset="0"/>
              </a:rPr>
              <a:t>.</a:t>
            </a:r>
            <a:endParaRPr lang="ru-RU" dirty="0">
              <a:latin typeface="Roboto" panose="020B0604020202020204" charset="0"/>
            </a:endParaRPr>
          </a:p>
          <a:p>
            <a:pPr>
              <a:lnSpc>
                <a:spcPct val="150000"/>
              </a:lnSpc>
            </a:pPr>
            <a:endParaRPr lang="ru-RU" dirty="0">
              <a:latin typeface="Roboto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ru-RU" dirty="0">
                <a:latin typeface="Roboto" panose="020B0604020202020204" charset="0"/>
              </a:rPr>
              <a:t>Более подробный отчет  по проделанной работе можно изучить по данной ссылке: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3"/>
              </a:rPr>
              <a:t>https://github.com/a-ramil/study-postgresql/tree/main/Project</a:t>
            </a:r>
            <a:endParaRPr lang="ru-RU" dirty="0">
              <a:latin typeface="Roboto" panose="020B060402020202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100"/>
          <p:cNvPicPr preferRelativeResize="0"/>
          <p:nvPr/>
        </p:nvPicPr>
        <p:blipFill rotWithShape="1">
          <a:blip r:embed="rId3">
            <a:alphaModFix/>
          </a:blip>
          <a:srcRect l="10873" b="29922"/>
          <a:stretch/>
        </p:blipFill>
        <p:spPr>
          <a:xfrm>
            <a:off x="-75950" y="0"/>
            <a:ext cx="94087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100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9" name="Google Shape;449;p100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0" name="Google Shape;450;p100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1" name="Google Shape;451;p100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2" name="Google Shape;452;p100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101"/>
          <p:cNvPicPr preferRelativeResize="0"/>
          <p:nvPr/>
        </p:nvPicPr>
        <p:blipFill rotWithShape="1">
          <a:blip r:embed="rId3">
            <a:alphaModFix/>
          </a:blip>
          <a:srcRect t="5495" b="38716"/>
          <a:stretch/>
        </p:blipFill>
        <p:spPr>
          <a:xfrm>
            <a:off x="-75950" y="0"/>
            <a:ext cx="92199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101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462" name="Google Shape;462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28113" y="1616723"/>
            <a:ext cx="595986" cy="595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6402BA"/>
      </a:dk2>
      <a:lt2>
        <a:srgbClr val="EEEEEE"/>
      </a:lt2>
      <a:accent1>
        <a:srgbClr val="7629BA"/>
      </a:accent1>
      <a:accent2>
        <a:srgbClr val="8B8EE3"/>
      </a:accent2>
      <a:accent3>
        <a:srgbClr val="BFC1F0"/>
      </a:accent3>
      <a:accent4>
        <a:srgbClr val="FFAB40"/>
      </a:accent4>
      <a:accent5>
        <a:srgbClr val="0097A7"/>
      </a:accent5>
      <a:accent6>
        <a:srgbClr val="EEFF41"/>
      </a:accent6>
      <a:hlink>
        <a:srgbClr val="8B8EE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303</Words>
  <Application>Microsoft Office PowerPoint</Application>
  <PresentationFormat>Экран (16:9)</PresentationFormat>
  <Paragraphs>59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Courier New</vt:lpstr>
      <vt:lpstr>Roboto Medium</vt:lpstr>
      <vt:lpstr>Arial</vt:lpstr>
      <vt:lpstr>Roboto</vt:lpstr>
      <vt:lpstr>Светлая тема</vt:lpstr>
      <vt:lpstr>Светлая тема</vt:lpstr>
      <vt:lpstr>Светлая тема</vt:lpstr>
      <vt:lpstr>Презентация PowerPoint</vt:lpstr>
      <vt:lpstr>Меня хорошо видно &amp; слышно?</vt:lpstr>
      <vt:lpstr>Защита проекта Тема: Настройка параметров PostgreSQL  и структуры данных для оптимизации запросов   </vt:lpstr>
      <vt:lpstr>План защиты</vt:lpstr>
      <vt:lpstr>Презентация PowerPoint</vt:lpstr>
      <vt:lpstr>Какие технологии использовались </vt:lpstr>
      <vt:lpstr>Первоначальная схема</vt:lpstr>
      <vt:lpstr>Что получилось</vt:lpstr>
      <vt:lpstr>Презентация PowerPoint</vt:lpstr>
      <vt:lpstr>Презентация PowerPoint</vt:lpstr>
      <vt:lpstr>Выводы </vt:lpstr>
      <vt:lpstr>Презентация PowerPoint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admin</cp:lastModifiedBy>
  <cp:revision>12</cp:revision>
  <dcterms:modified xsi:type="dcterms:W3CDTF">2025-02-20T16:46:41Z</dcterms:modified>
</cp:coreProperties>
</file>