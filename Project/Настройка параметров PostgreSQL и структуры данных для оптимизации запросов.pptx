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3" r:id="rId1"/>
    <p:sldMasterId id="2147483734" r:id="rId2"/>
    <p:sldMasterId id="2147483735" r:id="rId3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306" r:id="rId10"/>
    <p:sldId id="262" r:id="rId11"/>
    <p:sldId id="307" r:id="rId12"/>
    <p:sldId id="308" r:id="rId13"/>
    <p:sldId id="263" r:id="rId14"/>
    <p:sldId id="264" r:id="rId15"/>
    <p:sldId id="265" r:id="rId16"/>
  </p:sldIdLst>
  <p:sldSz cx="9144000" cy="5143500" type="screen16x9"/>
  <p:notesSz cx="6858000" cy="9144000"/>
  <p:embeddedFontLst>
    <p:embeddedFont>
      <p:font typeface="Roboto" panose="020B0604020202020204" charset="0"/>
      <p:regular r:id="rId18"/>
      <p:bold r:id="rId19"/>
      <p:italic r:id="rId20"/>
      <p:boldItalic r:id="rId21"/>
    </p:embeddedFont>
    <p:embeddedFont>
      <p:font typeface="Roboto Medium" panose="020B060402020202020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  <p15:guide id="6" pos="10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CEE8FE-9399-4161-9C0E-73CC5A083D9B}">
  <a:tblStyle styleId="{51CEE8FE-9399-4161-9C0E-73CC5A083D9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77"/>
      </p:cViewPr>
      <p:guideLst>
        <p:guide pos="5533"/>
        <p:guide pos="397"/>
        <p:guide orient="horz" pos="3240"/>
        <p:guide orient="horz"/>
        <p:guide orient="horz" pos="510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4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7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font" Target="fonts/font2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6298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4332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{51CEE8FE-9399-4161-9C0E-73CC5A083D9B}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{51CEE8FE-9399-4161-9C0E-73CC5A083D9B}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пределение" type="title">
  <p:cSld name="TITL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r>
              <a:rPr lang="ru" sz="2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" sz="2400"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 + картинка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Главная мысль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 t="10742" b="10734"/>
          <a:stretch/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37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4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58" name="Google Shape;158;p4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>
            <a:spLocks noGrp="1"/>
          </p:cNvSpPr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4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62" name="Google Shape;16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du.postgrespro.ru/demo-big-20161013.zi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postgrespro.ru/education/demodb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08125" y="411187"/>
            <a:ext cx="6184060" cy="415468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433125" y="1890725"/>
            <a:ext cx="7584300" cy="2708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Настройка параметров PostgreSQL и </a:t>
            </a:r>
            <a:endParaRPr lang="en-US" sz="41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/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структуры данных для оптимизации запросов</a:t>
            </a:r>
            <a:endParaRPr sz="41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5" name="Google Shape;375;p92"/>
          <p:cNvSpPr txBox="1"/>
          <p:nvPr/>
        </p:nvSpPr>
        <p:spPr>
          <a:xfrm>
            <a:off x="593414" y="411187"/>
            <a:ext cx="5998771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ru-RU" sz="1500" dirty="0">
                <a:solidFill>
                  <a:srgbClr val="F4F4F6"/>
                </a:solidFill>
                <a:latin typeface="Roboto Medium"/>
                <a:ea typeface="Roboto Medium"/>
                <a:cs typeface="Roboto Medium"/>
                <a:sym typeface="Roboto Medium"/>
              </a:rPr>
              <a:t>PostgreSQL для администраторов баз данных</a:t>
            </a:r>
            <a:r>
              <a:rPr lang="en-US" sz="1500" dirty="0">
                <a:solidFill>
                  <a:srgbClr val="F4F4F6"/>
                </a:solidFill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r>
              <a:rPr lang="ru-RU" sz="1500" dirty="0">
                <a:solidFill>
                  <a:srgbClr val="F4F4F6"/>
                </a:solidFill>
                <a:latin typeface="Roboto Medium"/>
                <a:ea typeface="Roboto Medium"/>
                <a:cs typeface="Roboto Medium"/>
                <a:sym typeface="Roboto Medium"/>
              </a:rPr>
              <a:t>и разработчиков</a:t>
            </a:r>
            <a:endParaRPr sz="1500" dirty="0">
              <a:solidFill>
                <a:srgbClr val="F4F4F6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08125" y="2113144"/>
            <a:ext cx="1787901" cy="28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>
            <a:spLocks noGrp="1"/>
          </p:cNvSpPr>
          <p:nvPr>
            <p:ph type="title"/>
          </p:nvPr>
        </p:nvSpPr>
        <p:spPr>
          <a:xfrm>
            <a:off x="479284" y="55547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2500" dirty="0"/>
              <a:t>Тема: </a:t>
            </a:r>
            <a:r>
              <a:rPr lang="ru-RU" sz="2500" dirty="0"/>
              <a:t>Настройка параметров PostgreSQL </a:t>
            </a:r>
            <a:br>
              <a:rPr lang="ru-RU" sz="2500" dirty="0"/>
            </a:br>
            <a:r>
              <a:rPr lang="ru-RU" sz="2500" dirty="0"/>
              <a:t>и структуры данных для оптимизации запросов</a:t>
            </a:r>
            <a:endParaRPr sz="2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90" name="Google Shape;390;p94"/>
          <p:cNvPicPr preferRelativeResize="0"/>
          <p:nvPr/>
        </p:nvPicPr>
        <p:blipFill>
          <a:blip r:embed="rId3"/>
          <a:srcRect/>
          <a:stretch/>
        </p:blipFill>
        <p:spPr>
          <a:xfrm>
            <a:off x="645600" y="2155326"/>
            <a:ext cx="23187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91" name="Google Shape;391;p94"/>
          <p:cNvSpPr txBox="1"/>
          <p:nvPr/>
        </p:nvSpPr>
        <p:spPr>
          <a:xfrm>
            <a:off x="3899475" y="2746326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Рамиль Ахметов</a:t>
            </a:r>
            <a:endParaRPr sz="23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899475" y="3122213"/>
            <a:ext cx="53373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Главный эксперт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ООО </a:t>
            </a:r>
            <a:r>
              <a:rPr lang="en-US" sz="1300" dirty="0">
                <a:latin typeface="Roboto Medium"/>
                <a:ea typeface="Roboto Medium"/>
                <a:cs typeface="Roboto Medium"/>
                <a:sym typeface="Roboto Medium"/>
              </a:rPr>
              <a:t>“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Цифровые технологии и платформы</a:t>
            </a:r>
            <a:r>
              <a:rPr lang="en-US" sz="1300" dirty="0">
                <a:latin typeface="Roboto Medium"/>
                <a:ea typeface="Roboto Medium"/>
                <a:cs typeface="Roboto Medium"/>
                <a:sym typeface="Roboto Medium"/>
              </a:rPr>
              <a:t>”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398" name="Google Shape;398;p95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95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2" name="Google Shape;402;p95"/>
          <p:cNvCxnSpPr>
            <a:stCxn id="398" idx="1"/>
            <a:endCxn id="399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95"/>
          <p:cNvCxnSpPr>
            <a:stCxn id="399" idx="1"/>
            <a:endCxn id="400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stCxn id="400" idx="1"/>
            <a:endCxn id="401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12" name="Google Shape;412;p96"/>
          <p:cNvGraphicFramePr/>
          <p:nvPr>
            <p:extLst>
              <p:ext uri="{D42A27DB-BD31-4B8C-83A1-F6EECF244321}">
                <p14:modId xmlns:p14="http://schemas.microsoft.com/office/powerpoint/2010/main" val="459233325"/>
              </p:ext>
            </p:extLst>
          </p:nvPr>
        </p:nvGraphicFramePr>
        <p:xfrm>
          <a:off x="952500" y="2382125"/>
          <a:ext cx="7239000" cy="2560140"/>
        </p:xfrm>
        <a:graphic>
          <a:graphicData uri="http://schemas.openxmlformats.org/drawingml/2006/table">
            <a:tbl>
              <a:tblPr>
                <a:noFill/>
                <a:tableStyleId>{51CEE8FE-9399-4161-9C0E-73CC5A083D9B}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виртуальную машину на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Ubuntu 20.04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Установить СУБД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Разработать запросы и получить план запросов до оптимизации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Оптимизировать структуры данных</a:t>
                      </a: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Оценить результаты после оптимизации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55318"/>
                  </a:ext>
                </a:extLst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Оптимизировать структуру произвольного набора данных для оптимальной работы запросов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25" name="Google Shape;425;p97"/>
          <p:cNvGraphicFramePr/>
          <p:nvPr>
            <p:extLst>
              <p:ext uri="{D42A27DB-BD31-4B8C-83A1-F6EECF244321}">
                <p14:modId xmlns:p14="http://schemas.microsoft.com/office/powerpoint/2010/main" val="205865680"/>
              </p:ext>
            </p:extLst>
          </p:nvPr>
        </p:nvGraphicFramePr>
        <p:xfrm>
          <a:off x="952500" y="1897775"/>
          <a:ext cx="7239000" cy="2219810"/>
        </p:xfrm>
        <a:graphic>
          <a:graphicData uri="http://schemas.openxmlformats.org/drawingml/2006/table">
            <a:tbl>
              <a:tblPr>
                <a:noFill/>
                <a:tableStyleId>{51CEE8FE-9399-4161-9C0E-73CC5A083D9B}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Вируальная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машина в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“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Яндекс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Облако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”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Ubuntu 20.04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 17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настройка по рекомендациям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pgconfig.org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600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600" b="1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Nano,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Dbeaver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Notepad++…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  <a:hlinkClick r:id="rId3"/>
                        </a:rPr>
                        <a:t>demo-big-20161013.zip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  <a:hlinkClick r:id="rId4"/>
                        </a:rPr>
                        <a:t>https://postgrespro.ru/education/demodb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2B2DC-56E1-42AB-8FC9-ED6164DF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Первоначальная схема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ADE478B-109B-4F93-BDA4-EBB65D200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840" y="945183"/>
            <a:ext cx="5710772" cy="403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06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9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DD90B20-94DF-4BB8-A13D-9DD16A337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986652"/>
            <a:ext cx="2842506" cy="3170195"/>
          </a:xfrm>
          <a:prstGeom prst="rect">
            <a:avLst/>
          </a:prstGeom>
        </p:spPr>
      </p:pic>
      <p:sp>
        <p:nvSpPr>
          <p:cNvPr id="9" name="Google Shape;591;p108">
            <a:extLst>
              <a:ext uri="{FF2B5EF4-FFF2-40B4-BE49-F238E27FC236}">
                <a16:creationId xmlns:a16="http://schemas.microsoft.com/office/drawing/2014/main" id="{70A42EE6-8E92-4C94-8FBB-07F8FDC09212}"/>
              </a:ext>
            </a:extLst>
          </p:cNvPr>
          <p:cNvSpPr txBox="1">
            <a:spLocks/>
          </p:cNvSpPr>
          <p:nvPr/>
        </p:nvSpPr>
        <p:spPr>
          <a:xfrm>
            <a:off x="4089991" y="945068"/>
            <a:ext cx="4366772" cy="3364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buSzPts val="1100"/>
              <a:buFont typeface="Arial"/>
              <a:buNone/>
            </a:pPr>
            <a:r>
              <a:rPr lang="ru-RU" dirty="0"/>
              <a:t>Для оптимизации потребовалось создать секции. </a:t>
            </a:r>
          </a:p>
          <a:p>
            <a:pPr>
              <a:buSzPts val="1100"/>
              <a:buFont typeface="Arial"/>
              <a:buNone/>
            </a:pPr>
            <a:r>
              <a:rPr lang="ru-RU" sz="1800" dirty="0"/>
              <a:t>Это позволило хранить данные в определенном диапазоне.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BA25639-0F46-41A7-B9C2-F94637291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631" y="212651"/>
            <a:ext cx="6257512" cy="4501116"/>
          </a:xfrm>
          <a:prstGeom prst="rect">
            <a:avLst/>
          </a:prstGeom>
        </p:spPr>
      </p:pic>
      <p:pic>
        <p:nvPicPr>
          <p:cNvPr id="7" name="Google Shape;512;p106">
            <a:extLst>
              <a:ext uri="{FF2B5EF4-FFF2-40B4-BE49-F238E27FC236}">
                <a16:creationId xmlns:a16="http://schemas.microsoft.com/office/drawing/2014/main" id="{C57F5859-CD6A-42F5-BB47-3D127C61C0B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11764" y="212651"/>
            <a:ext cx="542605" cy="5426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95670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C362B0-E5EE-47B9-ABA9-EBCBE58DE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3" y="147111"/>
            <a:ext cx="4241513" cy="109084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16A92D5-50B3-491E-8E0E-33DD2AC6F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36" y="2037861"/>
            <a:ext cx="4099325" cy="238273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95A5CC2-0231-4A9A-9EBB-1F858A788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839" y="2037861"/>
            <a:ext cx="3657501" cy="2203028"/>
          </a:xfrm>
          <a:prstGeom prst="rect">
            <a:avLst/>
          </a:prstGeom>
        </p:spPr>
      </p:pic>
      <p:pic>
        <p:nvPicPr>
          <p:cNvPr id="18" name="Google Shape;527;p106">
            <a:extLst>
              <a:ext uri="{FF2B5EF4-FFF2-40B4-BE49-F238E27FC236}">
                <a16:creationId xmlns:a16="http://schemas.microsoft.com/office/drawing/2014/main" id="{88EBEF59-C262-4B67-B914-038F734F58A2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1839" y="274724"/>
            <a:ext cx="499518" cy="49951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591;p108">
            <a:extLst>
              <a:ext uri="{FF2B5EF4-FFF2-40B4-BE49-F238E27FC236}">
                <a16:creationId xmlns:a16="http://schemas.microsoft.com/office/drawing/2014/main" id="{20A44562-C852-499E-8CC0-33F8A43E1B61}"/>
              </a:ext>
            </a:extLst>
          </p:cNvPr>
          <p:cNvSpPr txBox="1">
            <a:spLocks/>
          </p:cNvSpPr>
          <p:nvPr/>
        </p:nvSpPr>
        <p:spPr>
          <a:xfrm>
            <a:off x="4791839" y="355404"/>
            <a:ext cx="4104601" cy="1209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buSzPts val="1100"/>
              <a:buFont typeface="Arial"/>
              <a:buNone/>
            </a:pPr>
            <a:r>
              <a:rPr lang="ru-RU" sz="2500" dirty="0"/>
              <a:t>      Получили прирост в скорости выполнения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228450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/>
              <a:t>Выводы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B1EAD90-6986-4938-8BA2-B352A0B030C1}"/>
              </a:ext>
            </a:extLst>
          </p:cNvPr>
          <p:cNvSpPr/>
          <p:nvPr/>
        </p:nvSpPr>
        <p:spPr>
          <a:xfrm>
            <a:off x="903766" y="1253732"/>
            <a:ext cx="7739683" cy="3284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1. Цель достигнута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2. Возникшие проблемы - в самом начале не учел что в диапазоне секции правое значение не включено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3. Время выполнения ~3 дня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4. Личная польза - 8 из 10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5. Вопросы по проекту - нет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6. Дальнейшее развитие - изучение способов оптимизации запросов </a:t>
            </a:r>
            <a:r>
              <a:rPr lang="ru-RU" dirty="0" err="1">
                <a:latin typeface="Roboto" panose="020B0604020202020204" charset="0"/>
              </a:rPr>
              <a:t>PostgreSQL</a:t>
            </a:r>
            <a:endParaRPr lang="ru-RU" dirty="0">
              <a:latin typeface="Roboto" panose="020B0604020202020204" charset="0"/>
            </a:endParaRPr>
          </a:p>
          <a:p>
            <a:pPr>
              <a:lnSpc>
                <a:spcPct val="150000"/>
              </a:lnSpc>
            </a:pPr>
            <a:endParaRPr lang="ru-RU" dirty="0">
              <a:latin typeface="Roboto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Более подробный отчет  по проделанной работе можно изучить по данной ссылке: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Roboto" panose="020B0604020202020204" charset="0"/>
              </a:rPr>
              <a:t>https://github.com/a-ramil/study-postgresql.git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3">
            <a:alphaModFix/>
          </a:blip>
          <a:srcRect l="10873" b="29922"/>
          <a:stretch/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281</Words>
  <Application>Microsoft Office PowerPoint</Application>
  <PresentationFormat>Экран (16:9)</PresentationFormat>
  <Paragraphs>59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Roboto</vt:lpstr>
      <vt:lpstr>Arial</vt:lpstr>
      <vt:lpstr>Courier New</vt:lpstr>
      <vt:lpstr>Roboto Medium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Настройка параметров PostgreSQL  и структуры данных для оптимизации запросов   </vt:lpstr>
      <vt:lpstr>План защиты</vt:lpstr>
      <vt:lpstr>Презентация PowerPoint</vt:lpstr>
      <vt:lpstr>Какие технологии использовались </vt:lpstr>
      <vt:lpstr>Первоначальная схема</vt:lpstr>
      <vt:lpstr>Что получилось</vt:lpstr>
      <vt:lpstr>Презентация PowerPoint</vt:lpstr>
      <vt:lpstr>Презентация PowerPoint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admin</cp:lastModifiedBy>
  <cp:revision>8</cp:revision>
  <dcterms:modified xsi:type="dcterms:W3CDTF">2025-02-20T15:59:54Z</dcterms:modified>
</cp:coreProperties>
</file>